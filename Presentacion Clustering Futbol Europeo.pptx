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836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1600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3152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Rendimiento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B7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Jugadores de Fútbol Europeo</a:t>
            </a:r>
            <a:endParaRPr lang="en-US" sz="3000" b="1" dirty="0"/>
          </a:p>
        </p:txBody>
      </p:sp>
      <p:sp>
        <p:nvSpPr>
          <p:cNvPr id="6" name="Text 4"/>
          <p:cNvSpPr/>
          <p:nvPr/>
        </p:nvSpPr>
        <p:spPr>
          <a:xfrm>
            <a:off x="502920" y="22860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</a:t>
            </a:r>
            <a:r>
              <a:rPr lang="en-US" sz="1600" b="1" i="1" dirty="0" err="1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Supervisado</a:t>
            </a:r>
            <a: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Clustering</a:t>
            </a:r>
            <a:b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b="1" i="1" dirty="0" err="1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</a:t>
            </a:r>
            <a:r>
              <a:rPr lang="en-US" sz="1600" b="1" i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Datos</a:t>
            </a:r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3200400" cy="3657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0175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Jhoan Sebastián Martínez Martínez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Felipe Grisales López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Juan Sebastián Rivera Valencia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AF0E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Lucas León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800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Ligas Europeas  ·  Temporadas 2022-23 a 2025-26  ·  10.099 jugadores de campo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Contexto y datos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dataset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682848"/>
            <a:ext cx="4023360" cy="197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</a:t>
            </a:r>
            <a:r>
              <a:rPr lang="en-US" sz="13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FBRef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estadísticas individuales de jugadores de las cinco grandes ligas europeas 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(Premier League, La Liga, Serie A, Bundesliga, Ligue 1)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Temporadas: </a:t>
            </a: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2022-23, 2023-24, 2024-25 y 2025-26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Porteros excluidos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tener métricas estructuralmente distintas (ceros en goles, asistencias, etc.) que crearían un cluster artificial sin valor analítico.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54880" y="100584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1887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10.099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54880" y="18105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 de campo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0" y="100584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0" y="100584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11887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0" y="18105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ligas europeas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51460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251460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697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754880" y="331927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temporadas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251460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0" y="2514600"/>
            <a:ext cx="19202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2697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858000" y="331927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para clustering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4069080"/>
            <a:ext cx="4206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411480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Columnas</a:t>
            </a:r>
            <a:r>
              <a:rPr lang="en-US" sz="1000" b="1" dirty="0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Clustering (11):</a:t>
            </a:r>
          </a:p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· MP · Min · CrdY · CrdR · PKatt · Gls · Ast · PK · Pos_encoded · Comp_encoded</a:t>
            </a:r>
            <a:endParaRPr lang="en-US" sz="1000" b="1" dirty="0"/>
          </a:p>
        </p:txBody>
      </p:sp>
      <p:sp>
        <p:nvSpPr>
          <p:cNvPr id="24" name="Shape 22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Adecuación del dataset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ya venía </a:t>
            </a:r>
            <a:r>
              <a:rPr lang="en-US" sz="1300" i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preprocesado</a:t>
            </a: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primer taller. Pero se realizaron ajustes finales para habilitar el clustering: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17320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72184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Columnas _scaled eliminadas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Age_scaled, MP_scaled, Min_scaled, 90s_scaled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1.0 con sus originales. Orange normaliza internamente.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2093976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093976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1488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columnas con 73% de nulos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2368296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xG, xAG, npxG, npxG+xAG, PrgC, PrgP,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disponibles en todas las ligas/temporadas.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770632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770632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254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Columnas redundantes eliminadas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04495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90s (= Min/90), Starts (corr 0.99 con Min), G-PK, G+A, Born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información ya representada.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447288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447288"/>
            <a:ext cx="320040" cy="58521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0215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Porteros (GK) excluidos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72160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694 registros eliminados. Sus métricas son estructuralmente distintas y generarían un cluster artificial.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123944"/>
            <a:ext cx="8412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4123944"/>
            <a:ext cx="320040" cy="585216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178808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Imputación de nulos restantes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4398264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Gls, Ast, PK (</a:t>
            </a:r>
            <a:r>
              <a:rPr lang="en-US" sz="10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</a:t>
            </a: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25% nulos):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(8 nulos):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global.</a:t>
            </a:r>
            <a:endParaRPr lang="en-US" sz="1050" b="1" dirty="0"/>
          </a:p>
        </p:txBody>
      </p:sp>
      <p:sp>
        <p:nvSpPr>
          <p:cNvPr id="25" name="Shape 2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10.099 filas · 11 variables · 0 nulos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Metodología de modelado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47064" y="10085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Flujo completo en Orange Data Mining</a:t>
            </a:r>
            <a:endParaRPr lang="en-US" sz="13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343400" y="868680"/>
            <a:ext cx="4526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343400" y="868680"/>
            <a:ext cx="27432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43400" y="12527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09160" y="9601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K-Means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709160" y="12527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Orange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09160" y="1472184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integrada en el widget. Silhouette Scores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widget k-Means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recomienda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k=2.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43400" y="2240280"/>
            <a:ext cx="4526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240280"/>
            <a:ext cx="27432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26243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709160" y="2331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 Jerárquico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709160" y="26243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Orange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709160" y="2843784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Distances con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integrada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Hierarchical Clustering.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Silhouette confirma 2 grupos como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óptima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homogéneos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entre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cluster.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43400" y="3611880"/>
            <a:ext cx="4526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9" name="Shape 16"/>
          <p:cNvSpPr/>
          <p:nvPr/>
        </p:nvSpPr>
        <p:spPr>
          <a:xfrm>
            <a:off x="4343400" y="3611880"/>
            <a:ext cx="27432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43400" y="3995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709160" y="37033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K-Means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709160" y="39959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Python, con 3 variables y </a:t>
            </a:r>
            <a:r>
              <a:rPr lang="en-US" sz="1000" b="1" dirty="0" err="1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3D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732020" y="41422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medio del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codo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k=3,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k-Means (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scikit-learn) con las variables MP,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3D.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57967B6D-4510-4177-3AD7-2C01C84C9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5" y="1500235"/>
            <a:ext cx="4129905" cy="25998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Justificación: k = 2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55096" y="383362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(Orange Widget k-Means): k=2 </a:t>
            </a:r>
            <a:r>
              <a:rPr lang="en-US" sz="10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obtiene</a:t>
            </a:r>
            <a:r>
              <a:rPr lang="en-US" sz="10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0.308</a:t>
            </a:r>
          </a:p>
        </p:txBody>
      </p:sp>
      <p:sp>
        <p:nvSpPr>
          <p:cNvPr id="6" name="Text 3"/>
          <p:cNvSpPr/>
          <p:nvPr/>
        </p:nvSpPr>
        <p:spPr>
          <a:xfrm>
            <a:off x="4617720" y="841248"/>
            <a:ext cx="4251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k = 2?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617720" y="147042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1472184"/>
            <a:ext cx="256032" cy="6583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12" name="Text 9"/>
          <p:cNvSpPr/>
          <p:nvPr/>
        </p:nvSpPr>
        <p:spPr>
          <a:xfrm>
            <a:off x="4937760" y="1534434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(Orange Widget k-Means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k=2 obtiene 0.308, el valor más alto del rango evaluado (k=2 a k=8). Mayor k = peor separación.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17720" y="235739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7720" y="2357394"/>
            <a:ext cx="256032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21402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(K-Means y clustering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Jerárquico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convergen en la misma partición binaria, validando la consistencia del resultado.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17720" y="326440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17720" y="3271266"/>
            <a:ext cx="256032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3540" y="3300984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significativa: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más clusters los grupos se vuelven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demasiado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fragmentados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generar recomendaciones claras de negocio.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55E8ECA0-E893-560B-3F1A-9240D6E7B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" y="1140129"/>
            <a:ext cx="3556312" cy="25625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Orange </a:t>
            </a:r>
            <a:r>
              <a:rPr lang="en-US" sz="2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K-Means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1991" y="765987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Scatter Plot: Minutos vs Goles — K-Means (Orange)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577840" y="804672"/>
            <a:ext cx="3291840" cy="155448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77840" y="804672"/>
            <a:ext cx="3291840" cy="329184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23560" y="81381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Baja participación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23560" y="1170432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 con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800 mins y escasos goles. Suplentes, juveniles o jugadores con poca continuidad durante la temporada.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7840" y="2487168"/>
            <a:ext cx="3291840" cy="1554480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2487168"/>
            <a:ext cx="329184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23560" y="249631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Participación activa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23560" y="2852928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 titulares o con minutos relevantes. Abarca desde defensas con bajo gol hasta delanteros de alto impacto.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Score: 0.308  ·  k = 2  ·  KMeans++  ·  10 re-runs</a:t>
            </a:r>
            <a:endParaRPr lang="en-US" sz="100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B770AD7-1BFA-EE73-DAE7-662661895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1" y="1132449"/>
            <a:ext cx="5320301" cy="337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97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Tahoma" panose="020B0604030504040204" pitchFamily="34" charset="0"/>
              </a:rPr>
              <a:t>06  </a:t>
            </a:r>
            <a:r>
              <a:rPr lang="en-US" sz="22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Tahoma" panose="020B0604030504040204" pitchFamily="34" charset="0"/>
              </a:rPr>
              <a:t>Resultados</a:t>
            </a:r>
            <a:r>
              <a:rPr lang="en-US" sz="2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Tahoma" panose="020B0604030504040204" pitchFamily="34" charset="0"/>
              </a:rPr>
              <a:t> Orange </a:t>
            </a:r>
            <a:r>
              <a:rPr lang="en-US" sz="2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 Clustering </a:t>
            </a:r>
            <a:r>
              <a:rPr lang="en-US" sz="24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jerárquico</a:t>
            </a:r>
            <a:endParaRPr lang="en-US" sz="2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577840" y="804672"/>
            <a:ext cx="3291840" cy="1680399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7" name="Shape 4"/>
          <p:cNvSpPr/>
          <p:nvPr/>
        </p:nvSpPr>
        <p:spPr>
          <a:xfrm>
            <a:off x="5577840" y="804672"/>
            <a:ext cx="3291840" cy="329184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8" name="Text 5"/>
          <p:cNvSpPr/>
          <p:nvPr/>
        </p:nvSpPr>
        <p:spPr>
          <a:xfrm>
            <a:off x="5623560" y="81381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s-CO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lanzadores de penaltis efectivos</a:t>
            </a:r>
            <a:endParaRPr lang="en-US" sz="1200" b="1" dirty="0">
              <a:solidFill>
                <a:srgbClr val="FFFFFF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532120" y="1136228"/>
            <a:ext cx="3337560" cy="1348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050" dirty="0"/>
              <a:t>Es el grupo pequeño pero muy definido en la parte superior del gráfico. Son jugadores que tienen </a:t>
            </a:r>
            <a:r>
              <a:rPr lang="es-MX" sz="1050" dirty="0" err="1"/>
              <a:t>PKatt</a:t>
            </a:r>
            <a:r>
              <a:rPr lang="es-MX" sz="1050" dirty="0"/>
              <a:t> ≥ 1 y PK ≥ 1, es decir, jugadores designados como ejecutores de penales en sus equipos. La dispersión diagonal que forman (a más intentos, más convertidos) indica una tasa de conversión relativamente consistente. Son típicamente delanteros o </a:t>
            </a:r>
            <a:r>
              <a:rPr lang="es-MX" sz="1050" dirty="0" err="1"/>
              <a:t>mediapuntas</a:t>
            </a:r>
            <a:r>
              <a:rPr lang="es-MX" sz="1050" dirty="0"/>
              <a:t> de jerarquía a los que el equipo les confía esta responsabilidad.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7840" y="2816626"/>
            <a:ext cx="3291840" cy="1720205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1" name="Shape 8"/>
          <p:cNvSpPr/>
          <p:nvPr/>
        </p:nvSpPr>
        <p:spPr>
          <a:xfrm>
            <a:off x="5577840" y="2811528"/>
            <a:ext cx="329184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00700" y="282402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 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 </a:t>
            </a:r>
            <a:r>
              <a:rPr lang="en-US" sz="12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Lanzadores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no </a:t>
            </a:r>
            <a:r>
              <a:rPr lang="en-US" sz="12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efectivos</a:t>
            </a:r>
            <a:r>
              <a:rPr lang="en-US" sz="1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32120" y="3113379"/>
            <a:ext cx="3337560" cy="1348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050" dirty="0"/>
              <a:t>La masa enorme concentrada en </a:t>
            </a:r>
            <a:r>
              <a:rPr lang="es-MX" sz="1050" dirty="0" err="1"/>
              <a:t>PKatt</a:t>
            </a:r>
            <a:r>
              <a:rPr lang="es-MX" sz="1050" dirty="0"/>
              <a:t>=0 y PK=0. Son todos los jugadores que nunca ejecutaron un penal durante las temporadas analizadas </a:t>
            </a:r>
            <a:r>
              <a:rPr lang="en-US" sz="105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05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</a:t>
            </a:r>
            <a:r>
              <a:rPr lang="es-MX" sz="1050" dirty="0"/>
              <a:t>defensas, mediocampistas, extremos sin ese rol, y delanteros que no son el lanzador designado, o jugadores que fallan varios penales. El algoritmo jerárquico capturó exactamente esta frontera y esa es la separación más natural en los datos.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Score: 0.308  ·  k = 2  ·  KMeans++  ·  10 re-runs</a:t>
            </a:r>
            <a:endParaRPr lang="en-US" sz="10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17AC7FCC-4C96-54F1-2158-75D38E3696B1}"/>
              </a:ext>
            </a:extLst>
          </p:cNvPr>
          <p:cNvSpPr/>
          <p:nvPr/>
        </p:nvSpPr>
        <p:spPr>
          <a:xfrm>
            <a:off x="101112" y="82245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Scatter Plot: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Penaltis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convertidos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vs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Intentos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Penalti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200" b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</a:t>
            </a:r>
            <a:r>
              <a:rPr lang="en-US" sz="1200" b="1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Clustering </a:t>
            </a:r>
            <a:r>
              <a:rPr lang="en-US" sz="1200" b="1" i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Jerárquico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065E774D-CC32-0FED-07AA-D6642407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76" y="1290010"/>
            <a:ext cx="5140328" cy="34399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 k-Means con python 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274320" y="3977640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274320" y="3977640"/>
            <a:ext cx="256032" cy="6583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1792" y="4023360"/>
            <a:ext cx="8183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Jerárquico: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agrupa a jugadores lanzadores de penales (alta PKatt y PK), C2 al resto. Consistente con K-Means.  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DBSCAN: 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jugadores core (alta participación, regularidad) de jugadores periféricos. Refuerza la partición binaria.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Visualización 3D — K-Means (Python)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48640" y="45720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Partidos Jugados · Goles · Asistencias  |  k=3 (Python)</a:t>
            </a:r>
            <a:endParaRPr lang="en-US" sz="1000" b="1" dirty="0"/>
          </a:p>
        </p:txBody>
      </p:sp>
      <p:sp>
        <p:nvSpPr>
          <p:cNvPr id="6" name="Shape 3"/>
          <p:cNvSpPr/>
          <p:nvPr/>
        </p:nvSpPr>
        <p:spPr>
          <a:xfrm>
            <a:off x="5852160" y="1005840"/>
            <a:ext cx="3017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943600" y="1234440"/>
            <a:ext cx="320040" cy="320040"/>
          </a:xfrm>
          <a:prstGeom prst="ellipse">
            <a:avLst/>
          </a:prstGeom>
          <a:solidFill>
            <a:srgbClr val="1B9E77"/>
          </a:solidFill>
          <a:ln w="12700">
            <a:solidFill>
              <a:srgbClr val="1B9E7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5080" y="107899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Verde — Baja participación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355080" y="138988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partidos, mínimos goles y asistencias.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852160" y="2194560"/>
            <a:ext cx="3017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943600" y="2423160"/>
            <a:ext cx="320040" cy="320040"/>
          </a:xfrm>
          <a:prstGeom prst="ellipse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26771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Amarillo — Participación media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55080" y="257860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 regulares con contribución moderada.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852160" y="3383280"/>
            <a:ext cx="3017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943600" y="3611880"/>
            <a:ext cx="320040" cy="320040"/>
          </a:xfrm>
          <a:prstGeom prst="ellipse">
            <a:avLst/>
          </a:prstGeom>
          <a:solidFill>
            <a:srgbClr val="4B0082"/>
          </a:solidFill>
          <a:ln w="12700">
            <a:solidFill>
              <a:srgbClr val="4B008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345643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Morado — Alto impacto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55080" y="376732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Máxima participación, líderes en goles y asistencias.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852160" y="4572000"/>
            <a:ext cx="3017520" cy="2926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52160" y="45720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 · </a:t>
            </a:r>
            <a:r>
              <a:rPr lang="en-US" sz="950" b="1" dirty="0" err="1">
                <a:solidFill>
                  <a:srgbClr val="D4AC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</a:t>
            </a:r>
            <a:endParaRPr lang="en-US" sz="950" b="1" dirty="0"/>
          </a:p>
        </p:txBody>
      </p:sp>
      <p:sp>
        <p:nvSpPr>
          <p:cNvPr id="20" name="Shape 1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9B20C3EA-7910-8ED0-855A-183263904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947" y="932156"/>
            <a:ext cx="3446585" cy="35306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Preguntas con valor de negocio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2062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292608" cy="1737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49961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85953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jugadores son candidatos a titularidad?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243584"/>
            <a:ext cx="3749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(alta participación) identifica jugadores con minutos suficientes para ser considerados pilares del equipo.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82296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822960"/>
            <a:ext cx="42062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822960"/>
            <a:ext cx="292608" cy="1737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49961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93208" y="85953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¿Dónde hay talento sub-utilizado?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93208" y="1243584"/>
            <a:ext cx="3749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concentra jugadores con potencial pero escasa continuidad — candidatos a cesión o desarrollo en divisiones inferiores.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743200"/>
            <a:ext cx="42062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743200"/>
            <a:ext cx="292608" cy="1737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419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77977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comparar el valor real de un fichaje?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3163824"/>
            <a:ext cx="3749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jugador de C2 en una liga menor vs uno de C2 en la Premier League permite calibrar el nivel de exigencia al mismo perfil.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74320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743200"/>
            <a:ext cx="42062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09160" y="2743200"/>
            <a:ext cx="292608" cy="1737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3419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93208" y="277977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perfil ofensivo tiene cada liga?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93208" y="3163824"/>
            <a:ext cx="3749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Cruzando Comp_encoded con el cluster se puede detectar si ligas como la Bundesliga concentran más jugadores de C2 ofensivo.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8920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2  ·  Aprendizaje No Supervisado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0584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Partición binaria robusta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5331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00" dirty="0" err="1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Orange) convergieron en k=2, respaldado por el Método del Codo y el Silhouette Score (0.308). La separación es estadísticamente consistente.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6596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02082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Clusters con identidad clara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231343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C1: jugadores periféricos/en desarrollo. C2: jugadores con participación activa y relevancia competitiva en sus equipos.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298094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 para la toma de decisiones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327355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clustering permite segmentar plantillas, identificar talento sub-utilizado y comparar perfiles entre ligas y temporadas.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321040" cy="822960"/>
          </a:xfrm>
          <a:prstGeom prst="rect">
            <a:avLst/>
          </a:prstGeom>
          <a:solidFill>
            <a:srgbClr val="2C2C54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256032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9410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 y herramientas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23367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integra la normalización z-score en el widget K-Means. Python (sklearn) complementó con el Método del Codo y visualización 3D.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4592" y="4864608"/>
            <a:ext cx="8979408" cy="5486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91032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Jhoan S. Martínez · Felipe Grisales · Juan S. Rivera · Lucas León</a:t>
            </a:r>
            <a:endParaRPr lang="en-US" sz="10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1222</Words>
  <Application>Microsoft Office PowerPoint</Application>
  <PresentationFormat>Presentación en pantalla (16:9)</PresentationFormat>
  <Paragraphs>119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Cambria</vt:lpstr>
      <vt:lpstr>Consolas</vt:lpstr>
      <vt:lpstr>Tahoma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Aprendizaje No Supervisado — Fútbol Europeo</dc:title>
  <dc:subject>PptxGenJS Presentation</dc:subject>
  <dc:creator>Grupo ML</dc:creator>
  <cp:lastModifiedBy>Sebastián Martínez Martínez</cp:lastModifiedBy>
  <cp:revision>2</cp:revision>
  <dcterms:created xsi:type="dcterms:W3CDTF">2026-04-11T02:34:45Z</dcterms:created>
  <dcterms:modified xsi:type="dcterms:W3CDTF">2026-04-11T04:21:56Z</dcterms:modified>
</cp:coreProperties>
</file>