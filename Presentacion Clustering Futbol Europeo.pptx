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3" r:id="rId10"/>
    <p:sldId id="264" r:id="rId11"/>
    <p:sldId id="267" r:id="rId12"/>
    <p:sldId id="265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836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1600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5016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54864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73152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Rendimiento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5B7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Jugadores de Fútbol Europeo</a:t>
            </a:r>
            <a:endParaRPr lang="en-US" sz="3000" b="1" dirty="0"/>
          </a:p>
        </p:txBody>
      </p:sp>
      <p:sp>
        <p:nvSpPr>
          <p:cNvPr id="6" name="Text 4"/>
          <p:cNvSpPr/>
          <p:nvPr/>
        </p:nvSpPr>
        <p:spPr>
          <a:xfrm>
            <a:off x="502920" y="22860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No </a:t>
            </a:r>
            <a:r>
              <a:rPr lang="en-US" sz="1600" b="1" i="1" dirty="0" err="1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Supervisado</a:t>
            </a:r>
            <a:r>
              <a:rPr lang="en-US" sz="1600" b="1" i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Clustering</a:t>
            </a:r>
            <a:br>
              <a:rPr lang="en-US" sz="1600" b="1" i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b="1" i="1" dirty="0" err="1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Minería</a:t>
            </a:r>
            <a:r>
              <a:rPr lang="en-US" sz="1600" b="1" i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Datos</a:t>
            </a:r>
          </a:p>
        </p:txBody>
      </p:sp>
      <p:sp>
        <p:nvSpPr>
          <p:cNvPr id="7" name="Shape 5"/>
          <p:cNvSpPr/>
          <p:nvPr/>
        </p:nvSpPr>
        <p:spPr>
          <a:xfrm>
            <a:off x="502920" y="2834640"/>
            <a:ext cx="3200400" cy="36576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0175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0E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Jhoan Sebastián Martínez Martínez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AF0E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Felipe Grisales López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AF0E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Juan Sebastián Rivera Valencia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AF0E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Lucas León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48006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Ligas Europeas  ·  Temporadas 2022-23 a 2025-26  ·  10.099 jugadores de campo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0">
        <p:cut/>
      </p:transition>
    </mc:Choice>
    <mc:Fallback>
      <p:transition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 Contexto y datos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dataset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682848"/>
            <a:ext cx="4023360" cy="197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</a:t>
            </a:r>
            <a:r>
              <a:rPr lang="en-US" sz="13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FBRef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estadísticas individuales de jugadores de las cinco grandes ligas europeas 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(Premier League, La Liga, Serie A, Bundesliga, Ligue 1)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Temporadas: </a:t>
            </a:r>
            <a:r>
              <a:rPr lang="en-US" sz="13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2022-23, 2023-24, 2024-25 y 2025-26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Porteros excluidos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tener métricas estructuralmente distintas (ceros en goles, asistencias, etc.) que crearían un cluster artificial sin valor analítico.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7B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54880" y="1005840"/>
            <a:ext cx="192024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1887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10.099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754880" y="181051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jugadores de campo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0" y="100584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7B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58000" y="1005840"/>
            <a:ext cx="192024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0" y="11887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858000" y="181051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ligas europeas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251460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7B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2514600"/>
            <a:ext cx="192024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6974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754880" y="331927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temporadas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0" y="251460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7B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0" y="2514600"/>
            <a:ext cx="192024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26974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858000" y="331927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para clustering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4069080"/>
            <a:ext cx="4206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4114800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 err="1">
                <a:solidFill>
                  <a:srgbClr val="D4AC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Columnas</a:t>
            </a:r>
            <a:r>
              <a:rPr lang="en-US" sz="1000" b="1" dirty="0">
                <a:solidFill>
                  <a:srgbClr val="D4AC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para Clustering (11):</a:t>
            </a:r>
          </a:p>
          <a:p>
            <a:pPr marL="0" indent="0" algn="ctr">
              <a:buNone/>
            </a:pPr>
            <a:r>
              <a:rPr lang="en-US" sz="1000" b="1" dirty="0">
                <a:solidFill>
                  <a:srgbClr val="D4AC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· MP · Min · CrdY · CrdR · PKatt · Gls · Ast · PK · Pos_encoded · Comp_encoded</a:t>
            </a:r>
            <a:endParaRPr lang="en-US" sz="1000" b="1" dirty="0"/>
          </a:p>
        </p:txBody>
      </p:sp>
      <p:sp>
        <p:nvSpPr>
          <p:cNvPr id="24" name="Shape 22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Adecuación del dataset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ya venía </a:t>
            </a:r>
            <a:r>
              <a:rPr lang="en-US" sz="1300" i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preprocesado</a:t>
            </a:r>
            <a:r>
              <a:rPr lang="en-US" sz="13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primer taller. Pero se realizaron ajustes finales para habilitar el clustering: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17320"/>
            <a:ext cx="320040" cy="58521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72184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Columnas _scaled eliminadas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69164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Age_scaled, MP_scaled, Min_scaled, 90s_scaled </a:t>
            </a:r>
            <a:r>
              <a:rPr lang="en-US" sz="105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1.0 con sus originales. Orange normaliza internamente.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2093976"/>
            <a:ext cx="8412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093976"/>
            <a:ext cx="320040" cy="58521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14884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columnas con 73% de nulos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2368296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xG, xAG, npxG, npxG+xAG, PrgC, PrgP,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PrgR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disponibles en todas las ligas/temporadas.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770632"/>
            <a:ext cx="8412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770632"/>
            <a:ext cx="320040" cy="58521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8254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Columnas redundantes eliminadas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3044952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90s (= Min/90), Starts (corr 0.99 con Min), G-PK, G+A, Born </a:t>
            </a:r>
            <a:r>
              <a:rPr lang="en-US" sz="105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información ya representada.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3447288"/>
            <a:ext cx="8412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447288"/>
            <a:ext cx="320040" cy="58521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02152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Porteros (GK) excluidos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3721608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694 registros eliminados. Sus métricas son estructuralmente distintas y generarían un cluster artificial.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123944"/>
            <a:ext cx="8412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4123944"/>
            <a:ext cx="320040" cy="585216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178808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Imputación de nulos restantes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4398264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Gls, Ast, PK (</a:t>
            </a:r>
            <a:r>
              <a:rPr lang="en-US" sz="10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</a:t>
            </a:r>
            <a:r>
              <a:rPr lang="en-US" sz="10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0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25% nulos):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posición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0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(8 nulos): 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global.</a:t>
            </a:r>
            <a:endParaRPr lang="en-US" sz="1050" b="1" dirty="0"/>
          </a:p>
        </p:txBody>
      </p:sp>
      <p:sp>
        <p:nvSpPr>
          <p:cNvPr id="25" name="Shape 23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10.099 filas · 11 variables · 0 nulos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 Metodología de modelado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47064" y="100856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Flujo completo en Orange Data Mining</a:t>
            </a:r>
            <a:endParaRPr lang="en-US" sz="13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343400" y="868680"/>
            <a:ext cx="4526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343400" y="868680"/>
            <a:ext cx="274320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43400" y="12527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709160" y="9601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K-Means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709160" y="125272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Herramienta: Orange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709160" y="1472184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integrada en el widget. Silhouette Scores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del widget k-Means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recomienda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k=2.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43400" y="2240280"/>
            <a:ext cx="4526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240280"/>
            <a:ext cx="274320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43400" y="26243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709160" y="2331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 Jerárquico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709160" y="262432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Herramienta: Orange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709160" y="2843784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 Distances con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integrada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Hierarchical Clustering.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Silhouette confirma 2 grupos como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separación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óptima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decir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homogéneos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entre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cluster.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343400" y="3611880"/>
            <a:ext cx="4526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19" name="Shape 16"/>
          <p:cNvSpPr/>
          <p:nvPr/>
        </p:nvSpPr>
        <p:spPr>
          <a:xfrm>
            <a:off x="4343400" y="3611880"/>
            <a:ext cx="274320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43400" y="39959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709160" y="37033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K-Means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709160" y="399592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Herramienta: Python, con 3 variables y </a:t>
            </a:r>
            <a:r>
              <a:rPr lang="en-US" sz="1000" b="1" dirty="0" err="1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3D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732020" y="41422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medio del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codo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k=3, 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k-Means (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librería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scikit-learn) con las variables MP,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graficar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3D.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57967B6D-4510-4177-3AD7-2C01C84C9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5" y="1500235"/>
            <a:ext cx="4129905" cy="259988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 Justificación: k = 2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55096" y="383362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(Orange Widget k-Means): k=2 </a:t>
            </a:r>
            <a:r>
              <a:rPr lang="en-US" sz="1000" b="1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obtiene</a:t>
            </a:r>
            <a:r>
              <a:rPr lang="en-US" sz="10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0.308</a:t>
            </a:r>
          </a:p>
        </p:txBody>
      </p:sp>
      <p:sp>
        <p:nvSpPr>
          <p:cNvPr id="6" name="Text 3"/>
          <p:cNvSpPr/>
          <p:nvPr/>
        </p:nvSpPr>
        <p:spPr>
          <a:xfrm>
            <a:off x="4617720" y="841248"/>
            <a:ext cx="4251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k = 2?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617720" y="1470426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1472184"/>
            <a:ext cx="256032" cy="65836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12" name="Text 9"/>
          <p:cNvSpPr/>
          <p:nvPr/>
        </p:nvSpPr>
        <p:spPr>
          <a:xfrm>
            <a:off x="4937760" y="1534434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(Orange Widget k-Means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k=2 obtiene 0.308, el valor más alto del rango evaluado (k=2 a k=8). Mayor k = peor separación.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17720" y="2357394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17720" y="2357394"/>
            <a:ext cx="256032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37760" y="2421402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(K-Means y clustering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Jerárquico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convergen en la misma partición binaria, validando la consistencia del resultado.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617720" y="3264408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617720" y="3271266"/>
            <a:ext cx="256032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33540" y="3300984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 significativa: 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más clusters los grupos se vuelven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demasiado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fragmentados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generar recomendaciones claras de negocio.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55E8ECA0-E893-560B-3F1A-9240D6E7B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" y="1140129"/>
            <a:ext cx="3556312" cy="2562545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 </a:t>
            </a:r>
            <a:r>
              <a:rPr lang="en-US" sz="2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Orange </a:t>
            </a:r>
            <a:r>
              <a:rPr lang="en-US" sz="24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2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K-Means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1991" y="765987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Scatter Plot: Minutos vs </a:t>
            </a:r>
            <a:r>
              <a:rPr lang="en-US" sz="1200" b="1" i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Goles</a:t>
            </a: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20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K-Means (Orange)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577840" y="804672"/>
            <a:ext cx="3291840" cy="155448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77840" y="804672"/>
            <a:ext cx="3291840" cy="329184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23560" y="813816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 </a:t>
            </a:r>
            <a:r>
              <a:rPr lang="en-US" sz="1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Baja participación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623560" y="1170432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Jugadores con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800 mins y escasos goles. Suplentes, juveniles o jugadores con poca continuidad durante la temporada.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577840" y="2487168"/>
            <a:ext cx="3291840" cy="1554480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77840" y="2487168"/>
            <a:ext cx="329184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23560" y="2496312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 </a:t>
            </a:r>
            <a:r>
              <a:rPr lang="en-US" sz="1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Participación activa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23560" y="2852928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Jugadores titulares o con minutos relevantes. Abarca desde defensas con bajo gol hasta delanteros de alto impacto.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Score: 0.308  ·  k = 2  ·  KMeans++  ·  10 re-runs</a:t>
            </a:r>
            <a:endParaRPr lang="en-US" sz="1000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B770AD7-1BFA-EE73-DAE7-662661895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1" y="1132449"/>
            <a:ext cx="5320301" cy="3376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97181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Tahoma" panose="020B0604030504040204" pitchFamily="34" charset="0"/>
              </a:rPr>
              <a:t>06  </a:t>
            </a:r>
            <a:r>
              <a:rPr lang="en-US" sz="22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Tahoma" panose="020B0604030504040204" pitchFamily="34" charset="0"/>
              </a:rPr>
              <a:t>Resultados</a:t>
            </a:r>
            <a:r>
              <a:rPr lang="en-US" sz="2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Tahoma" panose="020B0604030504040204" pitchFamily="34" charset="0"/>
              </a:rPr>
              <a:t> Orange </a:t>
            </a:r>
            <a:r>
              <a:rPr lang="en-US" sz="24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 Clustering </a:t>
            </a:r>
            <a:r>
              <a:rPr lang="en-US" sz="2400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jerárquico</a:t>
            </a:r>
            <a:endParaRPr lang="en-US" sz="2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577840" y="804672"/>
            <a:ext cx="3291840" cy="1680399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7" name="Shape 4"/>
          <p:cNvSpPr/>
          <p:nvPr/>
        </p:nvSpPr>
        <p:spPr>
          <a:xfrm>
            <a:off x="5577840" y="804672"/>
            <a:ext cx="3291840" cy="329184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8" name="Text 5"/>
          <p:cNvSpPr/>
          <p:nvPr/>
        </p:nvSpPr>
        <p:spPr>
          <a:xfrm>
            <a:off x="5623560" y="813816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 </a:t>
            </a:r>
            <a:r>
              <a:rPr lang="en-US" sz="1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s-CO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lanzadores de penaltis efectivos</a:t>
            </a:r>
            <a:endParaRPr lang="en-US" sz="1200" b="1" dirty="0">
              <a:solidFill>
                <a:srgbClr val="FFFFFF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532120" y="1136228"/>
            <a:ext cx="3337560" cy="1348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s-MX" sz="1050" dirty="0"/>
              <a:t>Es el grupo pequeño pero muy definido en la parte superior del gráfico. Son jugadores que tienen </a:t>
            </a:r>
            <a:r>
              <a:rPr lang="es-MX" sz="1050" dirty="0" err="1"/>
              <a:t>PKatt</a:t>
            </a:r>
            <a:r>
              <a:rPr lang="es-MX" sz="1050" dirty="0"/>
              <a:t> ≥ 1 y PK ≥ 1, es decir, jugadores designados como ejecutores de penales en sus equipos. La dispersión diagonal que forman (a más intentos, más convertidos) indica una tasa de conversión relativamente consistente. Son típicamente delanteros o </a:t>
            </a:r>
            <a:r>
              <a:rPr lang="es-MX" sz="1050" dirty="0" err="1"/>
              <a:t>mediapuntas</a:t>
            </a:r>
            <a:r>
              <a:rPr lang="es-MX" sz="1050" dirty="0"/>
              <a:t> de jerarquía a los que el equipo les confía esta responsabilidad.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577840" y="2816626"/>
            <a:ext cx="3291840" cy="1720205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11" name="Shape 8"/>
          <p:cNvSpPr/>
          <p:nvPr/>
        </p:nvSpPr>
        <p:spPr>
          <a:xfrm>
            <a:off x="5577840" y="2811528"/>
            <a:ext cx="329184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00700" y="2824022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 </a:t>
            </a:r>
            <a:r>
              <a:rPr lang="en-US" sz="1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 </a:t>
            </a:r>
            <a:r>
              <a:rPr lang="en-US" sz="1200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Lanzadores</a:t>
            </a:r>
            <a:r>
              <a:rPr lang="en-US" sz="1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no </a:t>
            </a:r>
            <a:r>
              <a:rPr lang="en-US" sz="1200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efectivos</a:t>
            </a:r>
            <a:r>
              <a:rPr lang="en-US" sz="1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532120" y="3113379"/>
            <a:ext cx="3337560" cy="1348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s-MX" sz="1050" dirty="0"/>
              <a:t>La masa enorme concentrada en </a:t>
            </a:r>
            <a:r>
              <a:rPr lang="es-MX" sz="1050" dirty="0" err="1"/>
              <a:t>PKatt</a:t>
            </a:r>
            <a:r>
              <a:rPr lang="es-MX" sz="1050" dirty="0"/>
              <a:t>=0 y PK=0. Son todos los jugadores que nunca ejecutaron un penal durante las temporadas analizadas </a:t>
            </a:r>
            <a:r>
              <a:rPr lang="en-US" sz="105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05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</a:t>
            </a:r>
            <a:r>
              <a:rPr lang="es-MX" sz="1050" dirty="0"/>
              <a:t>defensas, mediocampistas, extremos sin ese rol, y delanteros que no son el lanzador designado, o jugadores que fallan varios penales. El algoritmo jerárquico capturó exactamente esta frontera y esa es la separación más natural en los datos.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Score: 0.308  ·  k = 2  ·  KMeans++  ·  10 re-runs</a:t>
            </a:r>
            <a:endParaRPr lang="en-US" sz="100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17AC7FCC-4C96-54F1-2158-75D38E3696B1}"/>
              </a:ext>
            </a:extLst>
          </p:cNvPr>
          <p:cNvSpPr/>
          <p:nvPr/>
        </p:nvSpPr>
        <p:spPr>
          <a:xfrm>
            <a:off x="101112" y="82245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Scatter Plot: </a:t>
            </a:r>
            <a:r>
              <a:rPr lang="en-US" sz="1200" b="1" i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Penaltis</a:t>
            </a: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</a:t>
            </a:r>
            <a:r>
              <a:rPr lang="en-US" sz="1200" b="1" i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convertidos</a:t>
            </a: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vs </a:t>
            </a:r>
            <a:r>
              <a:rPr lang="en-US" sz="1200" b="1" i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Intentos</a:t>
            </a: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200" b="1" i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Penalti</a:t>
            </a: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20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Clustering </a:t>
            </a:r>
            <a:r>
              <a:rPr lang="en-US" sz="1200" b="1" i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Jerárquico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065E774D-CC32-0FED-07AA-D6642407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876" y="1290010"/>
            <a:ext cx="5140328" cy="343999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  k-Means con python 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461420" y="1761186"/>
            <a:ext cx="3509890" cy="1258444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9" name="Shape 5"/>
          <p:cNvSpPr/>
          <p:nvPr/>
        </p:nvSpPr>
        <p:spPr>
          <a:xfrm>
            <a:off x="461420" y="1766110"/>
            <a:ext cx="256032" cy="126336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  <p:txBody>
          <a:bodyPr/>
          <a:lstStyle/>
          <a:p>
            <a:pPr algn="ctr"/>
            <a:endParaRPr lang="es-CO" dirty="0"/>
          </a:p>
        </p:txBody>
      </p:sp>
      <p:sp>
        <p:nvSpPr>
          <p:cNvPr id="10" name="Text 6"/>
          <p:cNvSpPr/>
          <p:nvPr/>
        </p:nvSpPr>
        <p:spPr>
          <a:xfrm>
            <a:off x="717452" y="1747470"/>
            <a:ext cx="3253858" cy="1263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ayuda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librería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scikit-learn, 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realizó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las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variables: MP (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Partidos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Goles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y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asistencias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Lo que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dió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clusters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óptimo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k=3,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clusters a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paso, para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luego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graficar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3D con la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librería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matplotlib.</a:t>
            </a:r>
            <a:endParaRPr lang="en-US" sz="1050" b="1" dirty="0"/>
          </a:p>
        </p:txBody>
      </p:sp>
      <p:sp>
        <p:nvSpPr>
          <p:cNvPr id="11" name="Shape 7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  <p:pic>
        <p:nvPicPr>
          <p:cNvPr id="16" name="Imagen 15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9E4D0BC-194B-FCF7-C11A-A279DDB85F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76" r="1289" b="894"/>
          <a:stretch/>
        </p:blipFill>
        <p:spPr>
          <a:xfrm>
            <a:off x="4452425" y="1138816"/>
            <a:ext cx="4417255" cy="3079382"/>
          </a:xfrm>
          <a:prstGeom prst="rect">
            <a:avLst/>
          </a:prstGeom>
        </p:spPr>
      </p:pic>
      <p:sp>
        <p:nvSpPr>
          <p:cNvPr id="17" name="Text 2">
            <a:extLst>
              <a:ext uri="{FF2B5EF4-FFF2-40B4-BE49-F238E27FC236}">
                <a16:creationId xmlns:a16="http://schemas.microsoft.com/office/drawing/2014/main" id="{E62B01E3-42A5-FC0B-4763-DCB25A92A5AB}"/>
              </a:ext>
            </a:extLst>
          </p:cNvPr>
          <p:cNvSpPr/>
          <p:nvPr/>
        </p:nvSpPr>
        <p:spPr>
          <a:xfrm>
            <a:off x="4452425" y="788493"/>
            <a:ext cx="44172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Método del Codo — Python (sklearn)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  Visualización 3D </a:t>
            </a:r>
            <a:r>
              <a:rPr lang="en-US" sz="24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K-Means (Python)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548640" y="457200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Variables: Partidos Jugados · Goles · Asistencias  |  k=3</a:t>
            </a:r>
            <a:endParaRPr lang="en-US" sz="1000" b="1" dirty="0"/>
          </a:p>
        </p:txBody>
      </p:sp>
      <p:sp>
        <p:nvSpPr>
          <p:cNvPr id="6" name="Shape 3"/>
          <p:cNvSpPr/>
          <p:nvPr/>
        </p:nvSpPr>
        <p:spPr>
          <a:xfrm>
            <a:off x="5852160" y="1005840"/>
            <a:ext cx="3017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943600" y="1234440"/>
            <a:ext cx="320040" cy="320040"/>
          </a:xfrm>
          <a:prstGeom prst="ellipse">
            <a:avLst/>
          </a:prstGeom>
          <a:solidFill>
            <a:srgbClr val="1B9E77"/>
          </a:solidFill>
          <a:ln w="12700">
            <a:solidFill>
              <a:srgbClr val="1B9E7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55080" y="107899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Verde </a:t>
            </a:r>
            <a:r>
              <a:rPr lang="en-US" sz="11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</a:rPr>
              <a:t>→</a:t>
            </a:r>
            <a:r>
              <a:rPr lang="en-US" sz="11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Baja participación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355080" y="138988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partidos, mínimos goles y asistencias.</a:t>
            </a:r>
            <a:endParaRPr lang="en-US" sz="1000" b="1" dirty="0"/>
          </a:p>
        </p:txBody>
      </p:sp>
      <p:sp>
        <p:nvSpPr>
          <p:cNvPr id="10" name="Shape 7"/>
          <p:cNvSpPr/>
          <p:nvPr/>
        </p:nvSpPr>
        <p:spPr>
          <a:xfrm>
            <a:off x="5852160" y="2194560"/>
            <a:ext cx="3017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943600" y="2423160"/>
            <a:ext cx="320040" cy="320040"/>
          </a:xfrm>
          <a:prstGeom prst="ellipse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26771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Amarillo → Participación media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355080" y="257860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Titulares regulares con contribución moderada.</a:t>
            </a:r>
            <a:endParaRPr lang="en-US" sz="1000" b="1" dirty="0"/>
          </a:p>
        </p:txBody>
      </p:sp>
      <p:sp>
        <p:nvSpPr>
          <p:cNvPr id="14" name="Shape 11"/>
          <p:cNvSpPr/>
          <p:nvPr/>
        </p:nvSpPr>
        <p:spPr>
          <a:xfrm>
            <a:off x="5852160" y="3383280"/>
            <a:ext cx="3017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943600" y="3611880"/>
            <a:ext cx="320040" cy="320040"/>
          </a:xfrm>
          <a:prstGeom prst="ellipse">
            <a:avLst/>
          </a:prstGeom>
          <a:solidFill>
            <a:srgbClr val="4B0082"/>
          </a:solidFill>
          <a:ln w="12700">
            <a:solidFill>
              <a:srgbClr val="4B008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55080" y="345643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Morado</a:t>
            </a:r>
            <a:r>
              <a:rPr lang="en-US" sz="11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Alto impacto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55080" y="376732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Máxima participación, líderes en goles y asistencias.</a:t>
            </a:r>
            <a:endParaRPr lang="en-US" sz="1000" b="1" dirty="0"/>
          </a:p>
        </p:txBody>
      </p:sp>
      <p:sp>
        <p:nvSpPr>
          <p:cNvPr id="18" name="Shape 15"/>
          <p:cNvSpPr/>
          <p:nvPr/>
        </p:nvSpPr>
        <p:spPr>
          <a:xfrm>
            <a:off x="5852160" y="4572000"/>
            <a:ext cx="3017520" cy="2926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852160" y="457200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4AC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 · </a:t>
            </a:r>
            <a:r>
              <a:rPr lang="en-US" sz="950" b="1" dirty="0" err="1">
                <a:solidFill>
                  <a:srgbClr val="D4AC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</a:t>
            </a:r>
            <a:r>
              <a:rPr lang="en-US" sz="950" b="1" dirty="0">
                <a:solidFill>
                  <a:srgbClr val="D4AC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matplotlib · pandas</a:t>
            </a:r>
            <a:endParaRPr lang="en-US" sz="950" b="1" dirty="0"/>
          </a:p>
        </p:txBody>
      </p:sp>
      <p:sp>
        <p:nvSpPr>
          <p:cNvPr id="20" name="Shape 17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4790A97A-4166-37E5-4605-A1FF09784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09" y="777240"/>
            <a:ext cx="3917461" cy="383160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  Preguntas con valor de negocio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87791" y="886968"/>
            <a:ext cx="7990449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7790" y="822960"/>
            <a:ext cx="7990449" cy="585216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2369" y="822960"/>
            <a:ext cx="292608" cy="1527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7" name="Text 5"/>
          <p:cNvSpPr/>
          <p:nvPr/>
        </p:nvSpPr>
        <p:spPr>
          <a:xfrm>
            <a:off x="495183" y="1371600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87791" y="804672"/>
            <a:ext cx="7990449" cy="5989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s-MX" sz="13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</a:rPr>
              <a:t>¿Qué jugadores de C1 (baja participación) tienen un ratio goles/minuto comparable al de los jugadores de C2, y podrían ser promovidos a titulares sin riesgo de caída en rendimiento ofensivo? </a:t>
            </a:r>
            <a:r>
              <a:rPr lang="es-MX" sz="13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</a:rPr>
              <a:t>k-</a:t>
            </a:r>
            <a:r>
              <a:rPr lang="es-MX" sz="1300" b="1" dirty="0" err="1">
                <a:solidFill>
                  <a:srgbClr val="FF0000"/>
                </a:solidFill>
                <a:latin typeface="Cambria" pitchFamily="34" charset="0"/>
                <a:ea typeface="Cambria" pitchFamily="34" charset="-122"/>
              </a:rPr>
              <a:t>Means</a:t>
            </a:r>
            <a:r>
              <a:rPr lang="es-MX" sz="13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</a:rPr>
              <a:t> Orange</a:t>
            </a:r>
            <a:endParaRPr lang="en-US" sz="1300" b="1" dirty="0">
              <a:solidFill>
                <a:srgbClr val="FF0000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787791" y="1421892"/>
            <a:ext cx="7990448" cy="928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s-MX" sz="1200" dirty="0"/>
              <a:t>La respuesta está en los puntos azules que aparecen en la parte superior izquierda del gráfico </a:t>
            </a:r>
            <a:r>
              <a:rPr lang="en-US" sz="12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r>
              <a:rPr lang="es-MX" sz="1200" dirty="0"/>
              <a:t>  jugadores con pocos minutos pero que ya anotaron 3-5 goles, lo que sugiere alta efectividad en tiempo reducido. Identificarlos permite a los cuerpos técnicos tomar decisiones de rotación basadas en datos.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7791" y="2743200"/>
            <a:ext cx="7990447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95183" y="2743200"/>
            <a:ext cx="292608" cy="1737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2369" y="341985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P2</a:t>
            </a:r>
            <a:endParaRPr lang="en-US" sz="1300" dirty="0"/>
          </a:p>
        </p:txBody>
      </p:sp>
      <p:sp>
        <p:nvSpPr>
          <p:cNvPr id="30" name="Shape 3">
            <a:extLst>
              <a:ext uri="{FF2B5EF4-FFF2-40B4-BE49-F238E27FC236}">
                <a16:creationId xmlns:a16="http://schemas.microsoft.com/office/drawing/2014/main" id="{2CC8F6D2-2CE6-D9AA-2ACB-EEDD218D99E0}"/>
              </a:ext>
            </a:extLst>
          </p:cNvPr>
          <p:cNvSpPr/>
          <p:nvPr/>
        </p:nvSpPr>
        <p:spPr>
          <a:xfrm>
            <a:off x="805373" y="2743200"/>
            <a:ext cx="7972867" cy="585216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7790" y="2738276"/>
            <a:ext cx="7990449" cy="5852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s-MX" sz="13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</a:rPr>
              <a:t>¿Los equipos que concentran más jugadores en C1 (lanzadores de penales efectivos) tienen mejor rendimiento general, o tener un ejecutor designado claro es simplemente un indicador de jerarquía dentro del equipo sin impacto directo en resultados?</a:t>
            </a:r>
            <a:r>
              <a:rPr lang="en-US" sz="13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</a:rPr>
              <a:t>  </a:t>
            </a:r>
            <a:r>
              <a:rPr lang="en-US" sz="13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</a:rPr>
              <a:t>Clustering </a:t>
            </a:r>
            <a:r>
              <a:rPr lang="en-US" sz="1300" b="1" dirty="0" err="1">
                <a:solidFill>
                  <a:srgbClr val="FF0000"/>
                </a:solidFill>
                <a:latin typeface="Cambria" pitchFamily="34" charset="0"/>
                <a:ea typeface="Cambria" pitchFamily="34" charset="-122"/>
              </a:rPr>
              <a:t>jerárquico</a:t>
            </a:r>
            <a:r>
              <a:rPr lang="en-US" sz="13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</a:rPr>
              <a:t> Orange</a:t>
            </a:r>
          </a:p>
        </p:txBody>
      </p:sp>
      <p:sp>
        <p:nvSpPr>
          <p:cNvPr id="21" name="Text 19"/>
          <p:cNvSpPr/>
          <p:nvPr/>
        </p:nvSpPr>
        <p:spPr>
          <a:xfrm>
            <a:off x="787791" y="3341780"/>
            <a:ext cx="7990446" cy="11275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s-MX" sz="1200" dirty="0"/>
              <a:t>La pregunta tiene valor real para directores deportivos: si C1 está dominado por jugadores de ciertos equipos o ligas, se puede inferir si la especialización en roles de penal correlaciona con estructuras tácticas más definidas y potencialmente más exitosas.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  Preguntas con valor de negocio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84976" y="1840230"/>
            <a:ext cx="7990449" cy="1471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5" name="Shape 3"/>
          <p:cNvSpPr/>
          <p:nvPr/>
        </p:nvSpPr>
        <p:spPr>
          <a:xfrm>
            <a:off x="790605" y="1843219"/>
            <a:ext cx="7990449" cy="585216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2369" y="1840230"/>
            <a:ext cx="292608" cy="1463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7" name="Text 5"/>
          <p:cNvSpPr/>
          <p:nvPr/>
        </p:nvSpPr>
        <p:spPr>
          <a:xfrm>
            <a:off x="495183" y="2360383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9347" y="1820887"/>
            <a:ext cx="7990449" cy="5989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s-MX" sz="13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</a:rPr>
              <a:t>¿Cuál es el perfil mínimo de partidos jugados y contribuciones directas (goles + asistencias) que separa a un jugador de impacto real (morado) de uno de rol secundario (amarillo), y ese umbral varía entre ligas? </a:t>
            </a:r>
            <a:r>
              <a:rPr lang="en-US" sz="13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K-Means Python 3D (MP, </a:t>
            </a:r>
            <a:r>
              <a:rPr lang="en-US" sz="1300" b="1" dirty="0" err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Gls</a:t>
            </a:r>
            <a:r>
              <a:rPr lang="en-US" sz="13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US" sz="1300" b="1" dirty="0" err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Ast</a:t>
            </a:r>
            <a:r>
              <a:rPr lang="en-US" sz="13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) → </a:t>
            </a:r>
            <a:r>
              <a:rPr lang="es-CO" sz="13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Verde, Amarillo, Morado.</a:t>
            </a:r>
            <a:endParaRPr lang="en-US" sz="1300" b="1" dirty="0">
              <a:solidFill>
                <a:srgbClr val="FF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D5A7B428-1BE7-863E-F495-637714593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0605" y="2523642"/>
            <a:ext cx="7924330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CO" altLang="es-CO" sz="1200" dirty="0"/>
              <a:t>La gráfica muestra que el salto de amarillo a morado ocurre aproximadamente con al menos 3-5 goles o asistencias combinadas. Cruzar ese umbral con la variable </a:t>
            </a:r>
            <a:r>
              <a:rPr lang="es-CO" altLang="es-CO" sz="1200" b="1" dirty="0" err="1"/>
              <a:t>Comp_encoded</a:t>
            </a:r>
            <a:r>
              <a:rPr lang="es-CO" altLang="es-CO" sz="1200" b="1" dirty="0"/>
              <a:t> </a:t>
            </a:r>
            <a:r>
              <a:rPr lang="es-CO" altLang="es-CO" sz="1200" dirty="0"/>
              <a:t>permitiría a un scout saber si un jugador "amarillo" en la Bundesliga equivale a un "morado" en la Ligue 1 u otra liga. </a:t>
            </a:r>
          </a:p>
        </p:txBody>
      </p:sp>
    </p:spTree>
    <p:extLst>
      <p:ext uri="{BB962C8B-B14F-4D97-AF65-F5344CB8AC3E}">
        <p14:creationId xmlns:p14="http://schemas.microsoft.com/office/powerpoint/2010/main" val="120163768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54864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321040" cy="822960"/>
          </a:xfrm>
          <a:prstGeom prst="rect">
            <a:avLst/>
          </a:prstGeom>
          <a:solidFill>
            <a:srgbClr val="2C2C54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05840"/>
            <a:ext cx="256032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Partición binaria robusta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53312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Orange) convergieron en k=2, respaldado por el Método del Codo y el Silhouette Score (0.308). La separación es estadísticamente consistente.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321040" cy="822960"/>
          </a:xfrm>
          <a:prstGeom prst="rect">
            <a:avLst/>
          </a:prstGeom>
          <a:solidFill>
            <a:srgbClr val="2C2C54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65960"/>
            <a:ext cx="256032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202082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Clusters con identidad clara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2313432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dos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cluster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segmentaba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claramente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jugadores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seleccionados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8321040" cy="822960"/>
          </a:xfrm>
          <a:prstGeom prst="rect">
            <a:avLst/>
          </a:prstGeom>
          <a:solidFill>
            <a:srgbClr val="2C2C54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256032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298094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 para la toma de decisiones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3273552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clustering permite segmentar plantillas, identificar talento sub-utilizado y comparar perfiles entre ligas y temporadas.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321040" cy="822960"/>
          </a:xfrm>
          <a:prstGeom prst="rect">
            <a:avLst/>
          </a:prstGeom>
          <a:solidFill>
            <a:srgbClr val="2C2C54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886200"/>
            <a:ext cx="256032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394106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Normalización y herramientas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233672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integra la normalización z-score en el widget K-Means. Python (sklearn) complementó con el Método del Codo y visualización 3D.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64592" y="4864608"/>
            <a:ext cx="8979408" cy="54864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91032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Jhoan S. Martínez · Felipe Grisales · Juan S. Rivera · Lucas León</a:t>
            </a:r>
            <a:endParaRPr lang="en-US" sz="1000" b="1" dirty="0"/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1458</Words>
  <Application>Microsoft Office PowerPoint</Application>
  <PresentationFormat>Presentación en pantalla (16:9)</PresentationFormat>
  <Paragraphs>120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Arial</vt:lpstr>
      <vt:lpstr>Calibri</vt:lpstr>
      <vt:lpstr>Cambria</vt:lpstr>
      <vt:lpstr>Consolas</vt:lpstr>
      <vt:lpstr>Tahoma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Aprendizaje No Supervisado — Fútbol Europeo</dc:title>
  <dc:subject>PptxGenJS Presentation</dc:subject>
  <dc:creator>Grupo ML</dc:creator>
  <cp:lastModifiedBy>Sebastián Martínez Martínez</cp:lastModifiedBy>
  <cp:revision>6</cp:revision>
  <dcterms:created xsi:type="dcterms:W3CDTF">2026-04-11T02:34:45Z</dcterms:created>
  <dcterms:modified xsi:type="dcterms:W3CDTF">2026-04-11T20:52:56Z</dcterms:modified>
</cp:coreProperties>
</file>